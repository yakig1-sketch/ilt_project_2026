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28655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3600" b="1">
                <a:solidFill>
                  <a:srgbClr val="F8FAFC"/>
                </a:solidFill>
                <a:latin typeface="Arial"/>
              </a:rPr>
              <a:t>ILT Evaluator Cockpit Architecture</a:t>
            </a:r>
          </a:p>
          <a:p>
            <a:pPr>
              <a:spcAft>
                <a:spcPts val="2800"/>
              </a:spcAft>
            </a:pPr>
            <a:r>
              <a:rPr sz="1800">
                <a:solidFill>
                  <a:srgbClr val="90CDF4"/>
                </a:solidFill>
                <a:latin typeface="Arial"/>
              </a:rPr>
              <a:t>Real-Time 80% Stroke Mirroring, Clinical Telemetry, and Dynamic Controls</a:t>
            </a:r>
          </a:p>
          <a:p>
            <a:r>
              <a:rPr sz="1400">
                <a:solidFill>
                  <a:srgbClr val="A0AEC0"/>
                </a:solidFill>
                <a:latin typeface="Arial"/>
              </a:rPr>
              <a:t>Invented Letter Task (ILT) Research Platform | Wacom DTHA116 Deployment |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B6CB0"/>
                </a:solidFill>
                <a:latin typeface="Arial"/>
              </a:rPr>
              <a:t>CORE SYSTEM WIREFRAMES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Arial"/>
              </a:rPr>
              <a:t>Primary 1:1 Proctor Cockpit and Student Canvas</a:t>
            </a:r>
          </a:p>
        </p:txBody>
      </p:sp>
      <p:pic>
        <p:nvPicPr>
          <p:cNvPr id="4" name="Picture 3" descr="s2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94560"/>
            <a:ext cx="5120640" cy="3291840"/>
          </a:xfrm>
          <a:prstGeom prst="rect">
            <a:avLst/>
          </a:prstGeom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731520" y="5559552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2B6CB0"/>
                </a:solidFill>
                <a:latin typeface="Arial"/>
              </a:rPr>
              <a:t>Student Kiosk Canvas (3x5 Grid): </a:t>
            </a:r>
            <a:r>
              <a:rPr sz="1400">
                <a:solidFill>
                  <a:srgbClr val="4A5568"/>
                </a:solidFill>
                <a:latin typeface="Arial"/>
              </a:rPr>
              <a:t>Forward-only locking prevents backtracking; pen rest and green Next Block.</a:t>
            </a:r>
          </a:p>
        </p:txBody>
      </p:sp>
      <p:pic>
        <p:nvPicPr>
          <p:cNvPr id="6" name="Picture 5" descr="s2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535" y="2194560"/>
            <a:ext cx="5120640" cy="3291840"/>
          </a:xfrm>
          <a:prstGeom prst="rect">
            <a:avLst/>
          </a:prstGeom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6339535" y="5559552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2B6CB0"/>
                </a:solidFill>
                <a:latin typeface="Arial"/>
              </a:rPr>
              <a:t>Evaluator Cockpit (80% Mirror / 20% Telemetry): </a:t>
            </a:r>
            <a:r>
              <a:rPr sz="1400">
                <a:solidFill>
                  <a:srgbClr val="4A5568"/>
                </a:solidFill>
                <a:latin typeface="Arial"/>
              </a:rPr>
              <a:t>Real-time pressure colors, in-air hover, Repeat Block, and inactivity warning.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Arial"/>
              </a:rPr>
              <a:t>Source: ILT Functional Requirements Specification v1.0 | Clinical Pilot Protocol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B6CB0"/>
                </a:solidFill>
                <a:latin typeface="Arial"/>
              </a:rPr>
              <a:t>SCALABLE FIELD WORKFLOW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Arial"/>
              </a:rPr>
              <a:t>Setup Intake and Classroom Multi-Student Console</a:t>
            </a:r>
          </a:p>
        </p:txBody>
      </p:sp>
      <p:pic>
        <p:nvPicPr>
          <p:cNvPr id="4" name="Picture 3" descr="s3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94560"/>
            <a:ext cx="5120640" cy="3291840"/>
          </a:xfrm>
          <a:prstGeom prst="rect">
            <a:avLst/>
          </a:prstGeom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731520" y="5559552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2B6CB0"/>
                </a:solidFill>
                <a:latin typeface="Arial"/>
              </a:rPr>
              <a:t>Setup &amp; Pairing Console: </a:t>
            </a:r>
            <a:r>
              <a:rPr sz="1400">
                <a:solidFill>
                  <a:srgbClr val="4A5568"/>
                </a:solidFill>
                <a:latin typeface="Arial"/>
              </a:rPr>
              <a:t>Anonymous participant ID, dominant hand toggle, 5-digit PIN token, and local P2P.</a:t>
            </a:r>
          </a:p>
        </p:txBody>
      </p:sp>
      <p:pic>
        <p:nvPicPr>
          <p:cNvPr id="6" name="Picture 5" descr="s3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535" y="2194560"/>
            <a:ext cx="5120640" cy="3291840"/>
          </a:xfrm>
          <a:prstGeom prst="rect">
            <a:avLst/>
          </a:prstGeom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6339535" y="5559552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400">
                <a:solidFill>
                  <a:srgbClr val="2B6CB0"/>
                </a:solidFill>
                <a:latin typeface="Arial"/>
              </a:rPr>
              <a:t>1:4 Multi-Student Console: </a:t>
            </a:r>
            <a:r>
              <a:rPr sz="1400">
                <a:solidFill>
                  <a:srgbClr val="4A5568"/>
                </a:solidFill>
                <a:latin typeface="Arial"/>
              </a:rPr>
              <a:t>Quad-view for small groups, live status badges, and individual drill-down inspection.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Arial"/>
              </a:rPr>
              <a:t>Source: ILT Functional Requirements Specification v1.0 | Clinical Pilot Protocol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2286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3600" b="1">
                <a:solidFill>
                  <a:srgbClr val="F8FAFC"/>
                </a:solidFill>
                <a:latin typeface="Arial"/>
              </a:rPr>
              <a:t>Precision Technology for Early Literacy Screening</a:t>
            </a:r>
          </a:p>
          <a:p>
            <a:r>
              <a:rPr sz="1800">
                <a:solidFill>
                  <a:srgbClr val="90CDF4"/>
                </a:solidFill>
                <a:latin typeface="Arial"/>
              </a:rPr>
              <a:t>Open-Source Educational Research Initiative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